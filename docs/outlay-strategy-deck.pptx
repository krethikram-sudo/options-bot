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frame: AI spend is the fastest-growing line item nobody can explain. We make it attributed, forecastable, and governable.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Wharton/GBK 2025; Menlo Ventures 2025. The bill is big, growing, and now consumption-shaped — which is exactly what breaks visibility and seats.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gap. The question finance actually asks has no answer today. Sources: Flexera, Datadog, 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FinOps Foundation State of FinOps 2026 (n=1,192). There is now a budget line and an owner to sell to — the market arrived.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are built. The strategic move is positioning: sell the join + honest forecast + governance, not commodity 'visibility'. Read-only, BYOK, metadata-only.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don't fight on 'visibility' or token price. The tracker join + honest forecast + read-only posture are what they don't lead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 it exists and works: program budgets, breach projections, earned-value ratings, the quarterly variance table. Live on sample data; verified with a real gov pilot motion (Maryland).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Differentiation and pain peak in the same place. Run gov in parallel for ACV + the SOC2/StateRAMP moat, but software-eng is the velocity/PMF beachhead. ~70/30.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Expand the DATA before the features — own the attributed spend so the high-$ commitment optimizer launches from a defensible data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high-$ expansion and the reason to own the core data first. Spec'd in docs/spec-commitment-optimization.md.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Modeled bottoms-up + top-down (market-analysis §5). Capex ($400B+) is the supply-side backdrop, not our pool. Core is the wedge and most of the TAM; incremental features expand the wallet.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the data asset compounds — more spend under management = more lock-in. Ask / next step per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1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Georgia"/>
              </a:rPr>
              <a:t>Outlay</a:t>
            </a:r>
            <a:r>
              <a:rPr sz="6400" b="1">
                <a:solidFill>
                  <a:srgbClr val="CFEEDE"/>
                </a:solidFill>
                <a:latin typeface="Georgia"/>
              </a:rPr>
              <a:t>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DDF0E7"/>
                </a:solidFill>
                <a:latin typeface="Georgia"/>
              </a:rPr>
              <a:t>Put AI compute on a budget.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657600"/>
            <a:ext cx="3108960" cy="41148"/>
          </a:xfrm>
          <a:prstGeom prst="rect">
            <a:avLst/>
          </a:prstGeom>
          <a:solidFill>
            <a:srgbClr val="C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Market &amp; product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DDF0E7"/>
                </a:solidFill>
                <a:latin typeface="Calibri"/>
              </a:rPr>
              <a:t>Krethikram Gowrisankar · Founder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FE0D0"/>
                </a:solidFill>
                <a:latin typeface="Calibri"/>
              </a:rPr>
              <a:t>outlay-ai.com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430"/>
                </a:solidFill>
                <a:latin typeface="Georgia"/>
              </a:rPr>
              <a:t>AI spend is exploding — and moving to consumption.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91672" cy="868680"/>
          </a:xfrm>
          <a:prstGeom prst="rect">
            <a:avLst/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B513C"/>
                </a:solidFill>
                <a:latin typeface="Georgia"/>
              </a:rPr>
              <a:t>88% of US enterprises are raising AI budgets · 62% by ≥10%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54680"/>
            <a:ext cx="3502152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CONSUMPTION, NOT SEATS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AI scales by tokens/compute, not users — per-seat can't price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3154680"/>
            <a:ext cx="3502152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INFERENCE &gt; TRAINING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Production usage overtook training — recurring cost, not one-time.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3154680"/>
            <a:ext cx="3593592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CODE-GEN IS THE BREAKOUT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~$4B, ~28% of enterprise LLM use; Claude ~42% dev share.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430"/>
                </a:solidFill>
                <a:latin typeface="Georgia"/>
              </a:rPr>
              <a:t>Consumption AI spend is opaque, multi-vendor, and unattributed.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Provider bills are aggregated at the account level — no team, ticket, or cost-center metadata.</a:t>
            </a:r>
          </a:p>
          <a:p>
            <a:pPr algn="l">
              <a:spcAft>
                <a:spcPts val="15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Spend is spread across OpenAI, Anthropic, Bedrock, Azure, Cursor, Copilot — no unified view.</a:t>
            </a:r>
          </a:p>
          <a:p>
            <a:pPr algn="l">
              <a:spcAft>
                <a:spcPts val="15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Finance can't map a credit to a workload; 78% of IT leaders saw surprise AI charges.</a:t>
            </a:r>
          </a:p>
          <a:p>
            <a:pPr algn="l">
              <a:spcAft>
                <a:spcPts val="15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Nobody can answer the question that matters: “What is AI costing us per team / feature / output?”</a:t>
            </a:r>
          </a:p>
        </p:txBody>
      </p:sp>
      <p:pic>
        <p:nvPicPr>
          <p:cNvPr id="6" name="Picture 5" descr="diagra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286000"/>
            <a:ext cx="6949440" cy="3772553"/>
          </a:xfrm>
          <a:prstGeom prst="rect">
            <a:avLst/>
          </a:prstGeom>
          <a:ln w="15875">
            <a:solidFill>
              <a:srgbClr val="E1DDD2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EEDE"/>
                </a:solidFill>
                <a:latin typeface="Calibri"/>
              </a:rPr>
              <a:t>THE CATEGORY IS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Georgia"/>
              </a:rPr>
              <a:t>From niche to near-universal in 24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11091672" cy="1005840"/>
          </a:xfrm>
          <a:prstGeom prst="rect">
            <a:avLst/>
          </a:prstGeom>
          <a:solidFill>
            <a:srgbClr val="0B5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DDF0E7"/>
                </a:solidFill>
                <a:latin typeface="Georgia"/>
              </a:rPr>
              <a:t>98% of organizations now manage AI spend — up from 31% in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DDF0E7"/>
                </a:solidFill>
                <a:latin typeface="Calibri"/>
              </a:rPr>
              <a:t>The fastest cost-discipline adoption the FinOps survey has ever recorded.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DF0E7"/>
                </a:solidFill>
                <a:latin typeface="Calibri"/>
              </a:rPr>
              <a:t>Managing AI spend is the #1 FinOps priority for the next 12 months, and AI cost management is the #1 skill gap (58%).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WHAT OUTLAY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430"/>
                </a:solidFill>
                <a:latin typeface="Georgia"/>
              </a:rPr>
              <a:t>The work-attribution + forecast + governance layer — not a dashboard.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3502152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1 · ATTRIBUTE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AI spend → the ticket, feature, engineer, and program — via the work-tracker join.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The question finance actually asks; hard to copy.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60" y="2148840"/>
            <a:ext cx="3502152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2 · FORECAST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Back-tested on the customer's OWN delivered work (leave-one-out).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Their data, measured error — the trust unlock.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2148840"/>
            <a:ext cx="3593592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3 · GOVERN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Program budgets, real-time pacing, on-/off-track rating.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Turns a report into a system of record you act 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WHY IT'S DEFENSIBLE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430"/>
                </a:solidFill>
                <a:latin typeface="Georgia"/>
              </a:rPr>
              <a:t>Three layers compete; none owns 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3502152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9A5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VISIBILITY DASHBOARDS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F2430"/>
                </a:solidFill>
                <a:latin typeface="Calibri"/>
              </a:rPr>
              <a:t>•  Vantage · CloudZero · Finout · Datadog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F2430"/>
                </a:solidFill>
                <a:latin typeface="Calibri"/>
              </a:rPr>
              <a:t>•  Attribute at team/project — not the work-item join; crowded.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60" y="2148840"/>
            <a:ext cx="3502152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9A5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LLM GATEWAYS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F2430"/>
                </a:solidFill>
                <a:latin typeface="Calibri"/>
              </a:rPr>
              <a:t>•  LiteLLM · Portkey · OpenRouter · TrueFoundry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F2430"/>
                </a:solidFill>
                <a:latin typeface="Calibri"/>
              </a:rPr>
              <a:t>•  In-path cost cuts + budgets — opposite of our read-only posture.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2148840"/>
            <a:ext cx="3593592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9A5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CLOUD OPTIMIZERS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F2430"/>
                </a:solidFill>
                <a:latin typeface="Calibri"/>
              </a:rPr>
              <a:t>•  ProsperOps (Flexera) · Zesty · nOps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F2430"/>
                </a:solidFill>
                <a:latin typeface="Calibri"/>
              </a:rPr>
              <a:t>•  Reserve cloud GPUs you run — not the model-API layer; no work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172200"/>
            <a:ext cx="11091672" cy="548640"/>
          </a:xfrm>
          <a:prstGeom prst="rect">
            <a:avLst/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B513C"/>
                </a:solidFill>
                <a:latin typeface="Georgia"/>
              </a:rPr>
              <a:t>Our moat: work-item attribution · own-data forecast · metadata-only / read-only · budget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THE PRODUCT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2430"/>
                </a:solidFill>
                <a:latin typeface="Georgia"/>
              </a:rPr>
              <a:t>Built and demoing — governance on real-shaped data.</a:t>
            </a:r>
          </a:p>
        </p:txBody>
      </p:sp>
      <p:pic>
        <p:nvPicPr>
          <p:cNvPr id="5" name="Picture 4" descr="shot-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783080"/>
            <a:ext cx="7498079" cy="4781384"/>
          </a:xfrm>
          <a:prstGeom prst="rect">
            <a:avLst/>
          </a:prstGeom>
          <a:ln w="15875">
            <a:solidFill>
              <a:srgbClr val="E1DDD2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THE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430"/>
                </a:solidFill>
                <a:latin typeface="Georgia"/>
              </a:rPr>
              <a:t>Land the hardest, highest-value layer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5486400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BEACHHEAD ICP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Eng-heavy software / AI-native companies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250–5,000 employees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&gt;$250–500k/yr AI spend, consumption-based, multi-provider, unowned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Buyer: platform/eng lead + VP Finance/FinOps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2148840"/>
            <a:ext cx="5394960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WHY HERE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The attribution gap is worst — and our tracker join only fires here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Budgets growing 50–100%/yr → urgency + a buyer with money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Reachable founder-led; no 12-month procurement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Gov/Maryland = parallel high-ACV lighthouse + compliance moat, NOT the roadmap driver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THE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430"/>
                </a:solidFill>
                <a:latin typeface="Georgia"/>
              </a:rPr>
              <a:t>One data asset, reused three ways.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3502152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A · MORE SPEND LAYERS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Land eng consumption (hardest)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→ seats (sales/mktg/support/legal)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→ company-wide AI cost system of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60" y="2148840"/>
            <a:ext cx="3502152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B · MORE VALUE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Attribution → chargeback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→ enforcement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→ commitment optimization (the prize)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2148840"/>
            <a:ext cx="3593592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C · MORE SEGMENTS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Software → enterprise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→ financial services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→ regulated / gov (metadata-only wedge)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172200"/>
            <a:ext cx="11091672" cy="548640"/>
          </a:xfrm>
          <a:prstGeom prst="rect">
            <a:avLst/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350" b="1">
                <a:solidFill>
                  <a:srgbClr val="0B513C"/>
                </a:solidFill>
                <a:latin typeface="Georgia"/>
              </a:rPr>
              <a:t>Every step reuses the attributed data, adds a buyer or spend layer, raises ACV, deepens lock-in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206240" cy="502920"/>
          </a:xfrm>
          <a:prstGeom prst="rect">
            <a:avLst/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B513C"/>
                </a:solidFill>
                <a:latin typeface="Calibri"/>
              </a:rPr>
              <a:t>THE PRIZE · INCREMENTAL 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430"/>
                </a:solidFill>
                <a:latin typeface="Georgia"/>
              </a:rPr>
              <a:t>Commitment &amp; procurement 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AI is priced like cloud: on-demand vs committed-discount vs provisioned. Most companies over- or under-commit.</a:t>
            </a:r>
          </a:p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Getting it right needs forecasting + attribution — exactly our core data.</a:t>
            </a:r>
          </a:p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Cloud analog (ProsperOps/Zesty/nOps) is the single highest-$ FinOps lever — 30–60% savings cited.</a:t>
            </a:r>
          </a:p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Open at the model-API layer; our work-attributed steadiness signal beats an infra-only optimizer.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852160"/>
            <a:ext cx="11091672" cy="685800"/>
          </a:xfrm>
          <a:prstGeom prst="rect">
            <a:avLst/>
          </a:prstGeom>
          <a:solidFill>
            <a:srgbClr val="F6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9A5A18"/>
                </a:solidFill>
                <a:latin typeface="Georgia"/>
              </a:rPr>
              <a:t>Race Flexera (now owns ProsperOps + FinOps-for-AI) to stitch this — from a better-data position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6B4F"/>
                </a:solidFill>
                <a:latin typeface="Calibri"/>
              </a:rPr>
              <a:t>MARKET SIZE (US, MODELED)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430"/>
                </a:solidFill>
                <a:latin typeface="Georgia"/>
              </a:rPr>
              <a:t>$35–70B governable pool → $1–3B revenue TAM.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3502152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SPEND UNDER MANAGEMENT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US governable AI spend pool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≈ $35–70B in 2026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growing ~50–100%/yr → $100B+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60" y="2148840"/>
            <a:ext cx="3502152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OUTLAY REVENUE TAM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at a 2–5% software take-rate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≈ $1.0–3.0B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serviceable (ICP) ≈ $0.3–0.9B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2148840"/>
            <a:ext cx="3593592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5C6470"/>
                </a:solidFill>
                <a:latin typeface="Calibri"/>
              </a:rPr>
              <a:t>CORE VS INCREMENTAL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Core (attribute+forecast+budget): ~60–70%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Incremental (chargeback, enforcement, commitment opt): ~30–40% &amp; rising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C6470"/>
                </a:solidFill>
                <a:latin typeface="Calibri"/>
              </a:rPr>
              <a:t>Demand-side (what companies pay to use AI), not hyperscaler capex. Ranges, not point estimates.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EEDE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Govern the AI spend before it scales.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DF0E7"/>
                </a:solidFill>
                <a:latin typeface="Calibri"/>
              </a:rPr>
              <a:t>The category just inflected, the spend is exploding, and the winning layer (work-attribution) is uncontested. The cheapest time to build the governance layer is now.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11880"/>
            <a:ext cx="11091672" cy="2514600"/>
          </a:xfrm>
          <a:prstGeom prst="rect">
            <a:avLst/>
          </a:prstGeom>
          <a:solidFill>
            <a:srgbClr val="0B513C"/>
          </a:solidFill>
          <a:ln w="15875">
            <a:solidFill>
              <a:srgbClr val="CFE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/>
          <a:lstStyle/>
          <a:p>
            <a:pPr algn="l">
              <a:spcAft>
                <a:spcPts val="900"/>
              </a:spcAft>
            </a:pPr>
            <a:r>
              <a:rPr sz="1250" b="1">
                <a:solidFill>
                  <a:srgbClr val="DDF0E7"/>
                </a:solidFill>
                <a:latin typeface="Calibri"/>
              </a:rPr>
              <a:t>THE PLAN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N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N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T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