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Open with a sentence of context, not the deck: who you are and that this is built</a:t>
            </a:r>
          </a:p>
          <a:p>
            <a:r>
              <a:t>specifically for Maryland Health Connection. Then advance to the About slide for a 30-second intro</a:t>
            </a:r>
          </a:p>
          <a:p>
            <a:r>
              <a:t>before the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me — 30-45 seconds. The throughline to land: "I spent years at Amazon owning</a:t>
            </a:r>
          </a:p>
          <a:p>
            <a:r>
              <a:t>safety-critical autonomous systems and the financial models behind them — $40M+ saved, $100M+ NPV</a:t>
            </a:r>
          </a:p>
          <a:p>
            <a:r>
              <a:t>programs. Outlay brings that same cost-governance rigor to AI spend." Establishes you're credible on</a:t>
            </a:r>
          </a:p>
          <a:p>
            <a:r>
              <a:t>BOTH scale/safety (matters to a gov buyer) and financial discipline (matters to the CFO).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HERE. The one rule for this room: lead with the architecture, not the features.</a:t>
            </a:r>
          </a:p>
          <a:p>
            <a:r>
              <a:t>This is a state health exchange — their first instinct is "what data does this touch?" Win that in</a:t>
            </a:r>
          </a:p>
          <a:p>
            <a:r>
              <a:t>the first five minutes (slide 4) and the rest lands. Room: CIO (Koshanam)=technical fit,</a:t>
            </a:r>
          </a:p>
          <a:p>
            <a:r>
              <a:t>Compliance (Brennan)=the gate, CFO (Armiger)=budget value. Speak to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track: "Maryland's standing up its AI strategy this winter. The cost-and-governance</a:t>
            </a:r>
          </a:p>
          <a:p>
            <a:r>
              <a:t>question always lands right after the safety question — and right now it's answered in arrears, in</a:t>
            </a:r>
          </a:p>
          <a:p>
            <a:r>
              <a:t>invoices. We make it continuous and attributed." Keep it short; this is the setup for slide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track: "From two read-only connections — your tracker and your AI provider's billing</a:t>
            </a:r>
          </a:p>
          <a:p>
            <a:r>
              <a:t>API — Outlay does attribution, forecasting, and governance. No agents, nothing inline." Don't dwell;</a:t>
            </a:r>
          </a:p>
          <a:p>
            <a:r>
              <a:t>the architecture slide next is where you slow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slide. Slow down. "Everything I'll show runs on metadata only — token counts, ticket</a:t>
            </a:r>
          </a:p>
          <a:p>
            <a:r>
              <a:t>IDs, dollars. Never prompts, outputs, PHI, PII, or FTI. Your keys stay with you; we're read-only,</a:t>
            </a:r>
          </a:p>
          <a:p>
            <a:r>
              <a:t>never in a data path. So none of the data MARS-E, IRS 1075, or HIPAA govern reaches us — the</a:t>
            </a:r>
          </a:p>
          <a:p>
            <a:r>
              <a:t>integration is outside that boundary."</a:t>
            </a:r>
          </a:p>
          <a:p>
            <a:r>
              <a:t>OBJECTION — "Do you ever see PHI/member data?": "No, by design. Metadata only. Prompts and keys</a:t>
            </a:r>
          </a:p>
          <a:p>
            <a:r>
              <a:t>never leave your environment."  Name MARS-E / ARC-AMPE / 1075 yourself — it signals you know their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(do before the call): signed into a demo-flagged account on app.outlay-ai.com with</a:t>
            </a:r>
          </a:p>
          <a:p>
            <a:r>
              <a:t>SAMPLE DATA loaded; "business" persona (or "eng" if technical); ~110% zoom; notifications off.</a:t>
            </a:r>
          </a:p>
          <a:p>
            <a:r>
              <a:t>Smoke it first: python scripts/preflight.py --base https://app.outlay-ai.com, then click every page once.</a:t>
            </a:r>
          </a:p>
          <a:p>
            <a:r>
              <a:t>Backup: localhost — CONSOLE_SECRET=… DEMO_ACCOUNT_EMAILS="*" python -m console.server.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path: open Spend (/app/outlay). Scroll the attribution (team / work type / ticket /</a:t>
            </a:r>
          </a:p>
          <a:p>
            <a:r>
              <a:t>engineer). Then point at the COVERAGE line: "We're honest about it — this is the share of spend that</a:t>
            </a:r>
          </a:p>
          <a:p>
            <a:r>
              <a:t>maps to a specific work item, and exactly how to lift it. We never inflate the number." Mention the</a:t>
            </a:r>
          </a:p>
          <a:p>
            <a:r>
              <a:t>FOCUS CSV export ("the artifact your finance team loads").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TRUST MOMENT — this is what separates you from a dashboard. Open Accuracy</a:t>
            </a:r>
          </a:p>
          <a:p>
            <a:r>
              <a:t>(/app/outlay/accuracy). "The #1 question is 'can I trust the forecast?' We don't answer with a vendor</a:t>
            </a:r>
          </a:p>
          <a:p>
            <a:r>
              <a:t>benchmark — we back-test on YOUR closed tickets, leave-one-out, and show the measured error, sample</a:t>
            </a:r>
          </a:p>
          <a:p>
            <a:r>
              <a:t>size never hidden." Let a compliance/finance person sit with this; candor is the sell.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CFO segment. Open Budgets/Governance (/app/outlay/budgets, /app/outlay/governance).</a:t>
            </a:r>
          </a:p>
          <a:p>
            <a:r>
              <a:t>"Set a budget per program. We pace it in real time, project the breach date, and rate it on-track /</a:t>
            </a:r>
          </a:p>
          <a:p>
            <a:r>
              <a:t>watch / off-track from forecast vs actual on completed work — and it reaches you proactively:</a:t>
            </a:r>
          </a:p>
          <a:p>
            <a:r>
              <a:t>digest, close pack, Slack, webhook to your SIEM."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OBJECTION HANDLING — keep these cold:</a:t>
            </a:r>
          </a:p>
          <a:p>
            <a:r>
              <a:t>• "SOC 2 / StateRAMP / FedRAMP?" → "SOC 2 Type II in progress, StateRAMP on the roadmap. I'll be</a:t>
            </a:r>
          </a:p>
          <a:p>
            <a:r>
              <a:t>  straight — not there yet. What makes a pilot work NOW is the architecture: read-only + metadata-only</a:t>
            </a:r>
          </a:p>
          <a:p>
            <a:r>
              <a:t>  puts us outside the data scope those frameworks govern. Happy to share our SOC 2 timeline + NIST</a:t>
            </a:r>
          </a:p>
          <a:p>
            <a:r>
              <a:t>  800-53 mapping today."</a:t>
            </a:r>
          </a:p>
          <a:p>
            <a:r>
              <a:t>• "MARS-E / ARC-AMPE / 1075?" → "Those govern systems that receive member data/FTI. We receive none,</a:t>
            </a:r>
          </a:p>
          <a:p>
            <a:r>
              <a:t>  so we're outside that boundary. For controls that apply to any vendor — access, audit, encryption,</a:t>
            </a:r>
          </a:p>
          <a:p>
            <a:r>
              <a:t>  IR — we have them."</a:t>
            </a:r>
          </a:p>
          <a:p>
            <a:r>
              <a:t>• "Where are you hosted?" → "Today Fly.io. For a gov engagement that advances, the path is a re-host</a:t>
            </a:r>
          </a:p>
          <a:p>
            <a:r>
              <a:t>  to AWS GovCloud / Azure Government — which also gives FIPS-validated crypto + US residency. Gated on</a:t>
            </a:r>
          </a:p>
          <a:p>
            <a:r>
              <a:t>  a real deal; metadata-only lets us pilot before it."</a:t>
            </a:r>
          </a:p>
          <a:p>
            <a:r>
              <a:t>NEVER say "HIPAA compliant" or claim a cert you don't hold. Candor wins with a compliance officer.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it to THEIR world. The $12.7M "MHC enhancements" line + the Deloitte/J29 contracts are</a:t>
            </a:r>
          </a:p>
          <a:p>
            <a:r>
              <a:t>the natural first surface — AI-assisted dev cost per project, which a public agency must justify.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leave without a next step. Say it plainly (above). Then pin: a follow-up with Scott</a:t>
            </a:r>
          </a:p>
          <a:p>
            <a:r>
              <a:t>Brennan on the architecture + control mapping, and identify the dev/vendor data sources for the pilot.</a:t>
            </a:r>
          </a:p>
          <a:p>
            <a:r>
              <a:t>OBJECTION — "What does a pilot require from us?" → "A read-only token to a work tracker and your AI</a:t>
            </a:r>
          </a:p>
          <a:p>
            <a:r>
              <a:t>usage/billing API, scoped to dev/vendor. No installs, no production access, nothing inline."</a:t>
            </a:r>
          </a:p>
          <a:p>
            <a:r>
              <a:t>OBJECTION — "Cost?" → "Pilot is free. Platform pricing we set with early customers — but prove the</a:t>
            </a:r>
          </a:p>
          <a:p>
            <a:r>
              <a:t>number first." Leave-behind = the one-pager on the next slide's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Close, then go to the ask (slide 11) and agree the next step. Backup slides follow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Flip here if Q&amp;A goes deep on compliance. Never overclaim — 'in progress / roadmap / out of scope by design'.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Mirrors docs/prospect-maryland-health-connection.md (the requirements→readiness matrix) and docs/soc2-stateramp-sequencing.md.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916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FFFFFF"/>
                </a:solidFill>
                <a:latin typeface="Georgia"/>
              </a:rPr>
              <a:t>Outlay</a:t>
            </a:r>
            <a:r>
              <a:rPr sz="6600" b="1">
                <a:solidFill>
                  <a:srgbClr val="CFEEDE"/>
                </a:solidFill>
                <a:latin typeface="Georgia"/>
              </a:rPr>
              <a:t>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974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DDF0E7"/>
                </a:solidFill>
                <a:latin typeface="Georgia"/>
              </a:rPr>
              <a:t>Put AI compute on a budget.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611880"/>
            <a:ext cx="3108960" cy="41148"/>
          </a:xfrm>
          <a:prstGeom prst="rect">
            <a:avLst/>
          </a:prstGeom>
          <a:solidFill>
            <a:srgbClr val="C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Prepared for Maryland Health Connection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DDF0E7"/>
                </a:solidFill>
                <a:latin typeface="Calibri"/>
              </a:rPr>
              <a:t>Krethikram Gowrisankar  ·  Founder, Outlay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FE0D0"/>
                </a:solidFill>
                <a:latin typeface="Calibri"/>
              </a:rPr>
              <a:t>June 26, 2026  ·  outlay-ai.com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ABOUT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600200"/>
            <a:ext cx="2468880" cy="2468880"/>
          </a:xfrm>
          <a:prstGeom prst="ellipse">
            <a:avLst/>
          </a:prstGeom>
          <a:solidFill>
            <a:srgbClr val="0F6B4F"/>
          </a:solidFill>
          <a:ln w="19050">
            <a:solidFill>
              <a:srgbClr val="0B5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DDF0E7"/>
                </a:solidFill>
                <a:latin typeface="Georgia"/>
              </a:rPr>
              <a:t>KG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C6470"/>
                </a:solidFill>
                <a:latin typeface="Calibri"/>
              </a:rPr>
              <a:t>San Francisco,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371600"/>
            <a:ext cx="8092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1F2430"/>
                </a:solidFill>
                <a:latin typeface="Georgia"/>
              </a:rPr>
              <a:t>Krethikram Gowrisankar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148840"/>
            <a:ext cx="8092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6B4F"/>
                </a:solidFill>
                <a:latin typeface="Calibri"/>
              </a:rPr>
              <a:t>Founder, Outlay  ·  ex-Amazon (Senior PM, Tech)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743200"/>
            <a:ext cx="8092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Senior PM (Tech) at Amazon — led Smart TDR, an autonomous docking system scaled to ~50% of the middle-mile network in 12 months: 1M+ automated cycles, zero safety incidents.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Delivered $40M+ annual savings and owned $50M+ annual investment / $100M+ NPV programs — cost governance and capital allocation at scale.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Repeat 0→1 builder across hardware, software, and operations; filed a provisional patent and cold-pitched Amazon leadership into a full-time PM role.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B.S. Computer Science, UW–Madison — built Outlay to bring that same financial rigor to AI/LLM spend.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6053328"/>
            <a:ext cx="8092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C6470"/>
                </a:solidFill>
                <a:latin typeface="Calibri"/>
              </a:rPr>
              <a:t>krethikram@gmail.com  ·  outlay-ai.com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OUTLAY · FOR MARYLAND HEALTH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>
                <a:solidFill>
                  <a:srgbClr val="1F2430"/>
                </a:solidFill>
                <a:latin typeface="Georgia"/>
              </a:rPr>
              <a:t>AI spend, mapped to the work</a:t>
            </a:r>
          </a:p>
          <a:p>
            <a:pPr algn="l">
              <a:spcAft>
                <a:spcPts val="1600"/>
              </a:spcAft>
            </a:pPr>
            <a:r>
              <a:rPr sz="4600" b="1">
                <a:solidFill>
                  <a:srgbClr val="0F6B4F"/>
                </a:solidFill>
                <a:latin typeface="Georgia"/>
              </a:rPr>
              <a:t>that drove it — and held to budget.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5C6470"/>
                </a:solidFill>
                <a:latin typeface="Calibri"/>
              </a:rPr>
              <a:t>A read-only, metadata-only governance layer for the AI behind Maryland Health Connection.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074920"/>
            <a:ext cx="11091672" cy="822960"/>
          </a:xfrm>
          <a:prstGeom prst="rect">
            <a:avLst/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B513C"/>
                </a:solidFill>
                <a:latin typeface="Georgia"/>
              </a:rPr>
              <a:t>Attribute  ·  Forecast  ·  Govern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C6470"/>
                </a:solidFill>
                <a:latin typeface="Calibri"/>
              </a:rPr>
              <a:t>Outlay.ai   ·   Demo · June 26, 2026 · Krethikram Gowrisankar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THE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16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2430"/>
                </a:solidFill>
                <a:latin typeface="Georgia"/>
              </a:rPr>
              <a:t>Maryland is operationalizing its 2025 AI Enablement Strategy.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5C6470"/>
                </a:solidFill>
                <a:latin typeface="Calibri"/>
              </a:rPr>
              <a:t>Right after “is it safe?” comes the question every CFO and CIO asks: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11091672" cy="1143000"/>
          </a:xfrm>
          <a:prstGeom prst="rect">
            <a:avLst/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B513C"/>
                </a:solidFill>
                <a:latin typeface="Georgia"/>
              </a:rPr>
              <a:t>“What is the AI costing us — per program — and is it on budget?”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5C6470"/>
                </a:solidFill>
                <a:latin typeface="Calibri"/>
              </a:rPr>
              <a:t>Today that answer lives in invoices and spreadsheets, after the money is spent. Outlay answers it continuously, attributed to the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WHAT OUTLAY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430"/>
                </a:solidFill>
                <a:latin typeface="Georgia"/>
              </a:rPr>
              <a:t>Three things, from data you already have.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4297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00"/>
              </a:spcAft>
            </a:pPr>
            <a:r>
              <a:rPr sz="1900" b="0">
                <a:solidFill>
                  <a:srgbClr val="1F2430"/>
                </a:solidFill>
                <a:latin typeface="Calibri"/>
              </a:rPr>
              <a:t>•  Attribute — every AI dollar mapped to a team, work type, ticket, and engineer.</a:t>
            </a:r>
          </a:p>
          <a:p>
            <a:pPr algn="l">
              <a:spcAft>
                <a:spcPts val="2200"/>
              </a:spcAft>
            </a:pPr>
            <a:r>
              <a:rPr sz="1900" b="0">
                <a:solidFill>
                  <a:srgbClr val="1F2430"/>
                </a:solidFill>
                <a:latin typeface="Calibri"/>
              </a:rPr>
              <a:t>•  Forecast — what planned work will cost, back-tested on your own delivered work.</a:t>
            </a:r>
          </a:p>
          <a:p>
            <a:pPr algn="l">
              <a:spcAft>
                <a:spcPts val="2200"/>
              </a:spcAft>
            </a:pPr>
            <a:r>
              <a:rPr sz="1900" b="0">
                <a:solidFill>
                  <a:srgbClr val="1F2430"/>
                </a:solidFill>
                <a:latin typeface="Calibri"/>
              </a:rPr>
              <a:t>•  Govern — budgets per program, real-time pacing, and on-/off-track alerts.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C6470"/>
                </a:solidFill>
                <a:latin typeface="Calibri"/>
              </a:rPr>
              <a:t>Read-only links — no agents, nothing in the request path.</a:t>
            </a:r>
          </a:p>
        </p:txBody>
      </p:sp>
      <p:pic>
        <p:nvPicPr>
          <p:cNvPr id="7" name="Picture 6" descr="shot-estim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54480"/>
            <a:ext cx="6583680" cy="4198289"/>
          </a:xfrm>
          <a:prstGeom prst="rect">
            <a:avLst/>
          </a:prstGeom>
          <a:ln w="15875">
            <a:solidFill>
              <a:srgbClr val="E1DDD2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297680" cy="502920"/>
          </a:xfrm>
          <a:prstGeom prst="rect">
            <a:avLst/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B513C"/>
                </a:solidFill>
                <a:latin typeface="Calibri"/>
              </a:rPr>
              <a:t>WHY THIS IS SAFE FOR A HEALTH EXCHANGE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430"/>
                </a:solidFill>
                <a:latin typeface="Georgia"/>
              </a:rPr>
              <a:t>We never see PHI, PII, or FTI — by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0280"/>
            <a:ext cx="39776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600" b="0">
                <a:solidFill>
                  <a:srgbClr val="1F2430"/>
                </a:solidFill>
                <a:latin typeface="Calibri"/>
              </a:rPr>
              <a:t>•  Metadata-only — token counts, ticket IDs, work types, dollar figures. Never prompts or outputs.</a:t>
            </a:r>
          </a:p>
          <a:p>
            <a:pPr algn="l">
              <a:spcAft>
                <a:spcPts val="1800"/>
              </a:spcAft>
            </a:pPr>
            <a:r>
              <a:rPr sz="1600" b="0">
                <a:solidFill>
                  <a:srgbClr val="1F2430"/>
                </a:solidFill>
                <a:latin typeface="Calibri"/>
              </a:rPr>
              <a:t>•  Bring-your-own-key — your API keys stay in your environment.</a:t>
            </a:r>
          </a:p>
          <a:p>
            <a:pPr algn="l">
              <a:spcAft>
                <a:spcPts val="1800"/>
              </a:spcAft>
            </a:pPr>
            <a:r>
              <a:rPr sz="1600" b="0">
                <a:solidFill>
                  <a:srgbClr val="1F2430"/>
                </a:solidFill>
                <a:latin typeface="Calibri"/>
              </a:rPr>
              <a:t>•  Read-only — never a proxy or gateway in any data path.</a:t>
            </a:r>
          </a:p>
          <a:p>
            <a:pPr algn="l">
              <a:spcAft>
                <a:spcPts val="1800"/>
              </a:spcAft>
            </a:pPr>
            <a:r>
              <a:rPr sz="1600" b="0">
                <a:solidFill>
                  <a:srgbClr val="1F2430"/>
                </a:solidFill>
                <a:latin typeface="Calibri"/>
              </a:rPr>
              <a:t>•  Out of MARS-E / IRS 1075 / HIPAA data scope — what stops most vendors at the door.</a:t>
            </a:r>
          </a:p>
        </p:txBody>
      </p:sp>
      <p:pic>
        <p:nvPicPr>
          <p:cNvPr id="6" name="Picture 5" descr="diagra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148840"/>
            <a:ext cx="7178040" cy="3896650"/>
          </a:xfrm>
          <a:prstGeom prst="rect">
            <a:avLst/>
          </a:prstGeom>
          <a:ln w="15875">
            <a:solidFill>
              <a:srgbClr val="E1DDD2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FEEDE"/>
                </a:solidFill>
                <a:latin typeface="Calibri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Georgia"/>
              </a:rPr>
              <a:t>Let's look at the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DDF0E7"/>
                </a:solidFill>
                <a:latin typeface="Calibri"/>
              </a:rPr>
              <a:t>On sample data shaped like a real engineering program — the same screens you'd see on day one of a pilot.</a:t>
            </a:r>
          </a:p>
        </p:txBody>
      </p:sp>
      <p:pic>
        <p:nvPicPr>
          <p:cNvPr id="6" name="Picture 5" descr="shot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371600"/>
            <a:ext cx="6172200" cy="3935896"/>
          </a:xfrm>
          <a:prstGeom prst="rect">
            <a:avLst/>
          </a:prstGeom>
          <a:ln w="15875">
            <a:solidFill>
              <a:srgbClr val="FFFFFF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DEMO ·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3703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2430"/>
                </a:solidFill>
                <a:latin typeface="Georgia"/>
              </a:rPr>
              <a:t>Every dollar, on the roadmap.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By team &amp; cost center, work type, ticket, and engineer.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Ticket coverage shown honestly — and how to lift it.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FOCUS-aligned CSV export for finance.</a:t>
            </a:r>
          </a:p>
        </p:txBody>
      </p:sp>
      <p:pic>
        <p:nvPicPr>
          <p:cNvPr id="6" name="Picture 5" descr="shot-sp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960120"/>
            <a:ext cx="7589520" cy="4839694"/>
          </a:xfrm>
          <a:prstGeom prst="rect">
            <a:avLst/>
          </a:prstGeom>
          <a:ln w="15875">
            <a:solidFill>
              <a:srgbClr val="E1DDD2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DEMO · ACCURACY (THE HONESTY LAYER)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3703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2430"/>
                </a:solidFill>
                <a:latin typeface="Georgia"/>
              </a:rPr>
              <a:t>We don't ask you to trust a vendor benchmark.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Back-tested on your own closed tickets (leave-one-out).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Median error, within-P90, and sample size — never hidden.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Per-work-type accuracy with over/under bias.</a:t>
            </a:r>
          </a:p>
        </p:txBody>
      </p:sp>
      <p:pic>
        <p:nvPicPr>
          <p:cNvPr id="6" name="Picture 5" descr="shot-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960120"/>
            <a:ext cx="7589520" cy="4839694"/>
          </a:xfrm>
          <a:prstGeom prst="rect">
            <a:avLst/>
          </a:prstGeom>
          <a:ln w="15875">
            <a:solidFill>
              <a:srgbClr val="E1DDD2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DEMO ·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3703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2430"/>
                </a:solidFill>
                <a:latin typeface="Georgia"/>
              </a:rPr>
              <a:t>Put AI compute on a budget — per program.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Program budgets across teams, projects, and work types.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Real-time pacing → the projected breach date.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On-/off-track earned-value rating; alerts to your SIEM.</a:t>
            </a:r>
          </a:p>
        </p:txBody>
      </p:sp>
      <p:pic>
        <p:nvPicPr>
          <p:cNvPr id="6" name="Picture 5" descr="shot-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960120"/>
            <a:ext cx="7589520" cy="4839694"/>
          </a:xfrm>
          <a:prstGeom prst="rect">
            <a:avLst/>
          </a:prstGeom>
          <a:ln w="15875">
            <a:solidFill>
              <a:srgbClr val="E1DDD2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SECURITY &amp; COMPLIANCE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430"/>
                </a:solidFill>
                <a:latin typeface="Georgia"/>
              </a:rPr>
              <a:t>Straight talk on where we 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5394960" cy="4069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/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5C6470"/>
                </a:solidFill>
                <a:latin typeface="Calibri"/>
              </a:rPr>
              <a:t>IN PLACE TODAY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SSO (OIDC) + SCIM provisioning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Phishing-resistant MFA (passkeys)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RBAC · audit log → SIEM export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Retention + self-serve erasure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Encryption at rest + KMS hook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IR plan · WCAG 2.1 AA · CI security scan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5352" y="2103120"/>
            <a:ext cx="5394960" cy="4069080"/>
          </a:xfrm>
          <a:prstGeom prst="rect">
            <a:avLst/>
          </a:prstGeom>
          <a:solidFill>
            <a:srgbClr val="FFFFFF"/>
          </a:solidFill>
          <a:ln w="15875">
            <a:solidFill>
              <a:srgbClr val="9A5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/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5C6470"/>
                </a:solidFill>
                <a:latin typeface="Calibri"/>
              </a:rPr>
              <a:t>ON THE ROADMAP (HONEST)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SOC 2 Type II — in progress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Annual penetration test — scheduled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StateRAMP / GovRAMP — roadmap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FedRAMP cloud + FIPS crypto — deal-gated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Metadata-only keeps most of these out of scope for the data we touch.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FIT FOR MHBE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430"/>
                </a:solidFill>
                <a:latin typeface="Georgia"/>
              </a:rPr>
              <a:t>Two ways this earns its place now.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5394960" cy="4069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/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5C6470"/>
                </a:solidFill>
                <a:latin typeface="Calibri"/>
              </a:rPr>
              <a:t>THE AI-GOVERNANCE LAYER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F2430"/>
                </a:solidFill>
                <a:latin typeface="Calibri"/>
              </a:rPr>
              <a:t>•  Be the cost-attribution + budget-guardrail layer as you stand up the 2025 AI strategy.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F2430"/>
                </a:solidFill>
                <a:latin typeface="Calibri"/>
              </a:rPr>
              <a:t>•  Governance-first — matched to how your program is being built.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F2430"/>
                </a:solidFill>
                <a:latin typeface="Calibri"/>
              </a:rPr>
              <a:t>•  Day-one value with no instrumentation: read-only connections.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5352" y="2103120"/>
            <a:ext cx="5394960" cy="4069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/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5C6470"/>
                </a:solidFill>
                <a:latin typeface="Calibri"/>
              </a:rPr>
              <a:t>VENDOR &amp; ENHANCEMENT SPEND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F2430"/>
                </a:solidFill>
                <a:latin typeface="Calibri"/>
              </a:rPr>
              <a:t>•  As Deloitte / J29 enhancement work adopts AI coding agents, see cost per project.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F2430"/>
                </a:solidFill>
                <a:latin typeface="Calibri"/>
              </a:rPr>
              <a:t>•  The earned-value view a public agency needs to justify IT spend.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F2430"/>
                </a:solidFill>
                <a:latin typeface="Calibri"/>
              </a:rPr>
              <a:t>•  Attributes the $12.7M “MHC enhancements” work to the tickets behind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2103120" cy="502920"/>
          </a:xfrm>
          <a:prstGeom prst="rect">
            <a:avLst/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B513C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430"/>
                </a:solidFill>
                <a:latin typeface="Georgia"/>
              </a:rPr>
              <a:t>A two-week, read-only pilot — zero data-handling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1091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00"/>
              </a:spcAft>
            </a:pPr>
            <a:r>
              <a:rPr sz="2000" b="0">
                <a:solidFill>
                  <a:srgbClr val="1F2430"/>
                </a:solidFill>
                <a:latin typeface="Calibri"/>
              </a:rPr>
              <a:t>•  Scoped to your development / vendor AI usage, not any production PHI system.</a:t>
            </a:r>
          </a:p>
          <a:p>
            <a:pPr algn="l">
              <a:spcAft>
                <a:spcPts val="2200"/>
              </a:spcAft>
            </a:pPr>
            <a:r>
              <a:rPr sz="2000" b="0">
                <a:solidFill>
                  <a:srgbClr val="1F2430"/>
                </a:solidFill>
                <a:latin typeface="Calibri"/>
              </a:rPr>
              <a:t>•  Metadata-only and read-only — nothing for the security review to clear on data flow.</a:t>
            </a:r>
          </a:p>
          <a:p>
            <a:pPr algn="l">
              <a:spcAft>
                <a:spcPts val="2200"/>
              </a:spcAft>
            </a:pPr>
            <a:r>
              <a:rPr sz="2000" b="0">
                <a:solidFill>
                  <a:srgbClr val="1F2430"/>
                </a:solidFill>
                <a:latin typeface="Calibri"/>
              </a:rPr>
              <a:t>•  You walk away with a real number: attribution coverage + a measured forecast accuracy on your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B513C"/>
                </a:solidFill>
                <a:latin typeface="Calibri"/>
              </a:rPr>
              <a:t>Free during the pilot · we share our SOC 2 timeline and NIST 800-53 control mapping up front.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FEEDE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10916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Georgia"/>
              </a:rPr>
              <a:t>Govern the AI spend before it scales.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110916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DDF0E7"/>
                </a:solidFill>
                <a:latin typeface="Calibri"/>
              </a:rPr>
              <a:t>The cheapest time to put AI on a budget is at the start of the curve — which is exactly where Maryland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FE0D0"/>
                </a:solidFill>
                <a:latin typeface="Calibri"/>
              </a:rPr>
              <a:t>Krethikram Gowrisankar · krethikram@gmail.com · outlay-ai.com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C6470"/>
                </a:solidFill>
                <a:latin typeface="Calibri"/>
              </a:rPr>
              <a:t>BACKUP · OBJECTION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9167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F6B4F"/>
                </a:solidFill>
                <a:latin typeface="Calibri"/>
              </a:rPr>
              <a:t>Do you ever see PHI / member data / prompts?</a:t>
            </a:r>
          </a:p>
          <a:p>
            <a:pPr algn="l">
              <a:spcAft>
                <a:spcPts val="13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No — by design. Metadata only: token counts, ticket IDs, work types, dollars. Prompts, outputs, and API keys never leave your environment.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0F6B4F"/>
                </a:solidFill>
                <a:latin typeface="Calibri"/>
              </a:rPr>
              <a:t>SOC 2 / StateRAMP / FedRAMP authorized?</a:t>
            </a:r>
          </a:p>
          <a:p>
            <a:pPr algn="l">
              <a:spcAft>
                <a:spcPts val="13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SOC 2 Type II in progress; StateRAMP on the roadmap. Not there yet — and the architecture is what makes a pilot work now (outside the data scope those govern).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0F6B4F"/>
                </a:solidFill>
                <a:latin typeface="Calibri"/>
              </a:rPr>
              <a:t>MARS-E / ARC-AMPE / IRS 1075?</a:t>
            </a:r>
          </a:p>
          <a:p>
            <a:pPr algn="l">
              <a:spcAft>
                <a:spcPts val="13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Those govern systems that receive member data/FTI. We receive none, so we're outside that boundary. Vendor-applicable controls (access/audit/encryption/IR) we have.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0F6B4F"/>
                </a:solidFill>
                <a:latin typeface="Calibri"/>
              </a:rPr>
              <a:t>Where are you hosted?</a:t>
            </a:r>
          </a:p>
          <a:p>
            <a:pPr algn="l">
              <a:spcAft>
                <a:spcPts val="13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Fly.io today. A gov engagement that advances → re-host to AWS GovCloud / Azure Gov (FIPS crypto + US residency). Gated on a real deal; metadata-only lets us pilot first.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0F6B4F"/>
                </a:solidFill>
                <a:latin typeface="Calibri"/>
              </a:rPr>
              <a:t>What does a pilot require from us?</a:t>
            </a:r>
          </a:p>
          <a:p>
            <a:pPr algn="l">
              <a:spcAft>
                <a:spcPts val="13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A read-only token to a tracker + your AI usage/billing API, scoped to dev/vendor. No installs, no production access, nothing inline. Two weeks.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0F6B4F"/>
                </a:solidFill>
                <a:latin typeface="Calibri"/>
              </a:rPr>
              <a:t>Cost?</a:t>
            </a:r>
          </a:p>
          <a:p>
            <a:pPr algn="l">
              <a:spcAft>
                <a:spcPts val="13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Pilot is free. Platform pricing set with early customers — prove the number first.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C6470"/>
                </a:solidFill>
                <a:latin typeface="Calibri"/>
              </a:rPr>
              <a:t>BACKUP · SECURITY &amp; CONTROL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430"/>
                </a:solidFill>
                <a:latin typeface="Georgia"/>
              </a:rPr>
              <a:t>Architecture removes the heaviest scope; operational controls are in place; attestations are the roadmap.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5394960" cy="42976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/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5C6470"/>
                </a:solidFill>
                <a:latin typeface="Calibri"/>
              </a:rPr>
              <a:t>HAVE &amp; CAN EVIDENCE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430"/>
                </a:solidFill>
                <a:latin typeface="Calibri"/>
              </a:rPr>
              <a:t>•  Metadata-only / BYOK / read-only — no PHI/PII/FTI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430"/>
                </a:solidFill>
                <a:latin typeface="Calibri"/>
              </a:rPr>
              <a:t>•  SSO (OIDC) + SCIM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430"/>
                </a:solidFill>
                <a:latin typeface="Calibri"/>
              </a:rPr>
              <a:t>•  MFA incl. phishing-resistant passkeys (AAL2/3)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430"/>
                </a:solidFill>
                <a:latin typeface="Calibri"/>
              </a:rPr>
              <a:t>•  RBAC · audit log + SIEM export (/api/v1/audit)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430"/>
                </a:solidFill>
                <a:latin typeface="Calibri"/>
              </a:rPr>
              <a:t>•  Session controls: idle/absolute/epoch revocation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430"/>
                </a:solidFill>
                <a:latin typeface="Calibri"/>
              </a:rPr>
              <a:t>•  Retention + self-serve erasure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430"/>
                </a:solidFill>
                <a:latin typeface="Calibri"/>
              </a:rPr>
              <a:t>•  Encryption at rest + pluggable KMS hook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430"/>
                </a:solidFill>
                <a:latin typeface="Calibri"/>
              </a:rPr>
              <a:t>•  IR plan (MD-SOC 1-hr) + incident webhook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430"/>
                </a:solidFill>
                <a:latin typeface="Calibri"/>
              </a:rPr>
              <a:t>•  WCAG 2.1 AA + automated a11y &amp; security CI scans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5352" y="1965960"/>
            <a:ext cx="5394960" cy="4297680"/>
          </a:xfrm>
          <a:prstGeom prst="rect">
            <a:avLst/>
          </a:prstGeom>
          <a:solidFill>
            <a:srgbClr val="FFFFFF"/>
          </a:solidFill>
          <a:ln w="15875">
            <a:solidFill>
              <a:srgbClr val="9A5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/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5C6470"/>
                </a:solidFill>
                <a:latin typeface="Calibri"/>
              </a:rPr>
              <a:t>ROADMAP / EXTERNAL / FUNDED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430"/>
                </a:solidFill>
                <a:latin typeface="Calibri"/>
              </a:rPr>
              <a:t>•  SOC 2 Type II — in progress (highest leverage)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430"/>
                </a:solidFill>
                <a:latin typeface="Calibri"/>
              </a:rPr>
              <a:t>•  Annual third-party penetration test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430"/>
                </a:solidFill>
                <a:latin typeface="Calibri"/>
              </a:rPr>
              <a:t>•  Monthly vulnerability-scan program + patch SLA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430"/>
                </a:solidFill>
                <a:latin typeface="Calibri"/>
              </a:rPr>
              <a:t>•  StateRAMP / GovRAMP (Ready → Authorized)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430"/>
                </a:solidFill>
                <a:latin typeface="Calibri"/>
              </a:rPr>
              <a:t>•  FedRAMP-authorized cloud (AWS GovCloud / Azure Gov)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430"/>
                </a:solidFill>
                <a:latin typeface="Calibri"/>
              </a:rPr>
              <a:t>•  FIPS 140-validated crypto (IRS 1075)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430"/>
                </a:solidFill>
                <a:latin typeface="Calibri"/>
              </a:rPr>
              <a:t>•  3PAO assessment vs NIST 800-53 Rev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